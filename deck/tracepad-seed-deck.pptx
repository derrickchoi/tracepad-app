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0.125</c:v>
                </c:pt>
                <c:pt idx="1">
                  <c:v>0.52</c:v>
                </c:pt>
                <c:pt idx="2">
                  <c:v>1.59</c:v>
                </c:pt>
                <c:pt idx="3">
                  <c:v>4.08</c:v>
                </c:pt>
                <c:pt idx="4">
                  <c:v>8.32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02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Tracepad.ai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694944" y="144475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D7FA3"/>
                </a:solidFill>
              </a:rPr>
              <a:t>Capture the work. Ship the report.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" y="2148840"/>
            <a:ext cx="4937760" cy="45720"/>
          </a:xfrm>
          <a:prstGeom prst="rect">
            <a:avLst/>
          </a:prstGeom>
          <a:solidFill>
            <a:srgbClr val="1DB56C"/>
          </a:solidFill>
          <a:ln w="12700">
            <a:solidFill>
              <a:srgbClr val="1DB5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245059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0252B"/>
                </a:solidFill>
              </a:rPr>
              <a:t>AI workspace for high-context service businesses turning field context into client-ready deliverables.</a:t>
            </a:r>
            <a:endParaRPr lang="en-US" sz="1800" dirty="0"/>
          </a:p>
        </p:txBody>
      </p:sp>
      <p:pic>
        <p:nvPicPr>
          <p:cNvPr id="6" name="Image 0" descr="/Users/derrickchoi/Code/tracepad-app/brand/tracepad-hero-field-work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502920"/>
            <a:ext cx="484632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" y="397764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DB56C"/>
          </a:solidFill>
          <a:ln w="12700">
            <a:solidFill>
              <a:srgbClr val="1DB5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4050792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$1.5M seed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2176272" y="397764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5D7FA3"/>
          </a:solidFill>
          <a:ln w="12700">
            <a:solidFill>
              <a:srgbClr val="5D7FA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49424" y="4050792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3 pilots</a:t>
            </a:r>
            <a:endParaRPr lang="en-US" sz="680" dirty="0"/>
          </a:p>
        </p:txBody>
      </p:sp>
      <p:sp>
        <p:nvSpPr>
          <p:cNvPr id="11" name="Shape 8"/>
          <p:cNvSpPr/>
          <p:nvPr/>
        </p:nvSpPr>
        <p:spPr>
          <a:xfrm>
            <a:off x="3657600" y="397764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C88A35"/>
          </a:solidFill>
          <a:ln w="12700">
            <a:solidFill>
              <a:srgbClr val="C88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30752" y="4050792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$3.2k MRR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502920" y="64465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D88"/>
                </a:solidFill>
              </a:rPr>
              <a:t>Tracepad.ai / Seed Deck / 1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High-context service work gets trapped before it becomes a deliverable.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7FA3"/>
                </a:solidFill>
              </a:rPr>
              <a:t>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548640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20252B"/>
                </a:solidFill>
              </a:rPr>
              <a:t>Voice notes, site photos, texts, and meeting memory scatter across tools.</a:t>
            </a:r>
            <a:endParaRPr lang="en-US" sz="1400" dirty="0"/>
          </a:p>
          <a:p>
            <a:r>
              <a:rPr lang="en-US" sz="1400" dirty="0">
                <a:solidFill>
                  <a:srgbClr val="20252B"/>
                </a:solidFill>
              </a:rPr>
              <a:t>The expensive work is reconstructing the story for a client-ready recap, proposal, or task plan.</a:t>
            </a:r>
            <a:endParaRPr lang="en-US" sz="1400" dirty="0"/>
          </a:p>
          <a:p>
            <a:r>
              <a:rPr lang="en-US" sz="1400" dirty="0">
                <a:solidFill>
                  <a:srgbClr val="20252B"/>
                </a:solidFill>
              </a:rPr>
              <a:t>Generic note tools capture information but do not ship the final professional output.</a:t>
            </a:r>
            <a:endParaRPr lang="en-US" sz="1400" dirty="0"/>
          </a:p>
        </p:txBody>
      </p:sp>
      <p:pic>
        <p:nvPicPr>
          <p:cNvPr id="5" name="Image 0" descr="/Users/derrickchoi/Code/tracepad-app/brand/tracepad-persona-consul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143000"/>
            <a:ext cx="402336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4465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D88"/>
                </a:solidFill>
              </a:rPr>
              <a:t>Tracepad.ai / Seed Deck / 2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insight: AI is most useful when evidence and review stay attached.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7FA3"/>
                </a:solidFill>
              </a:rPr>
              <a:t>Insight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1560" y="3063240"/>
            <a:ext cx="9418320" cy="0"/>
          </a:xfrm>
          <a:prstGeom prst="line">
            <a:avLst/>
          </a:prstGeom>
          <a:noFill/>
          <a:ln w="12700">
            <a:solidFill>
              <a:srgbClr val="2025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615184"/>
            <a:ext cx="786384" cy="78638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2025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" y="283464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52B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36118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52B"/>
                </a:solidFill>
              </a:rPr>
              <a:t>Capture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2615184"/>
            <a:ext cx="786384" cy="78638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2025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5536" y="283464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52B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60904" y="36118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52B"/>
                </a:solidFill>
              </a:rPr>
              <a:t>Organize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2615184"/>
            <a:ext cx="786384" cy="78638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2025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02936" y="283464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52B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18304" y="36118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52B"/>
                </a:solidFill>
              </a:rPr>
              <a:t>Generate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615184"/>
            <a:ext cx="786384" cy="786384"/>
          </a:xfrm>
          <a:prstGeom prst="ellipse">
            <a:avLst/>
          </a:prstGeom>
          <a:solidFill>
            <a:srgbClr val="1DB56C"/>
          </a:solidFill>
          <a:ln w="12700">
            <a:solidFill>
              <a:srgbClr val="2025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0336" y="283464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75704" y="36118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52B"/>
                </a:solidFill>
              </a:rPr>
              <a:t>Review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2615184"/>
            <a:ext cx="786384" cy="786384"/>
          </a:xfrm>
          <a:prstGeom prst="ellipse">
            <a:avLst/>
          </a:prstGeom>
          <a:solidFill>
            <a:srgbClr val="FFFDF8"/>
          </a:solidFill>
          <a:ln w="12700">
            <a:solidFill>
              <a:srgbClr val="2025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17736" y="283464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52B"/>
                </a:solidFill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33104" y="36118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52B"/>
                </a:solidFill>
              </a:rPr>
              <a:t>Deliver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617720"/>
            <a:ext cx="9144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52B"/>
                </a:solidFill>
              </a:rPr>
              <a:t>Tracepad.ai is not a black-box writer. It is a reviewable workspace where source context, draft language, and final delivery live together.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D88"/>
                </a:solidFill>
              </a:rPr>
              <a:t>Tracepad.ai / Seed Deck / 3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Product: capture app + workspace + desktop studio.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7FA3"/>
                </a:solidFill>
              </a:rPr>
              <a:t>Product</a:t>
            </a:r>
            <a:endParaRPr lang="en-US" sz="850" dirty="0"/>
          </a:p>
        </p:txBody>
      </p:sp>
      <p:pic>
        <p:nvPicPr>
          <p:cNvPr id="4" name="Image 0" descr="/Users/derrickchoi/Code/tracepad-app/brand/tracepad-product-mockup-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25296"/>
            <a:ext cx="3154680" cy="2514600"/>
          </a:xfrm>
          <a:prstGeom prst="rect">
            <a:avLst/>
          </a:prstGeom>
        </p:spPr>
      </p:pic>
      <p:pic>
        <p:nvPicPr>
          <p:cNvPr id="5" name="Image 1" descr="/Users/derrickchoi/Code/tracepad-app/brand/tracepad-product-mockup-we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932688"/>
            <a:ext cx="4114800" cy="2743200"/>
          </a:xfrm>
          <a:prstGeom prst="rect">
            <a:avLst/>
          </a:prstGeom>
        </p:spPr>
      </p:pic>
      <p:pic>
        <p:nvPicPr>
          <p:cNvPr id="6" name="Image 2" descr="/Users/derrickchoi/Code/tracepad-app/brand/tracepad-product-mockup-mac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353312"/>
            <a:ext cx="3108960" cy="248716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43000" y="4709160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52B"/>
                </a:solidFill>
              </a:rPr>
              <a:t>iOS captures field context fast. Web coordinates clients, projects, and portals. macOS supports deep review, editing, and finalization.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02920" y="64465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D88"/>
                </a:solidFill>
              </a:rPr>
              <a:t>Tracepad.ai / Seed Deck / 4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Workflow: from raw context to client-ready deliverable.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7FA3"/>
                </a:solidFill>
              </a:rPr>
              <a:t>Workflow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1828800" cy="29718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DAD5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52B"/>
                </a:solidFill>
              </a:rPr>
              <a:t>Capture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9424"/>
            <a:ext cx="1444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46F"/>
                </a:solidFill>
              </a:rPr>
              <a:t>Voice notes, photos, project tags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3913632"/>
            <a:ext cx="1463040" cy="64008"/>
          </a:xfrm>
          <a:prstGeom prst="rect">
            <a:avLst/>
          </a:prstGeom>
          <a:solidFill>
            <a:srgbClr val="5D7FA3"/>
          </a:solidFill>
          <a:ln w="12700">
            <a:solidFill>
              <a:srgbClr val="5D7F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481328"/>
            <a:ext cx="1828800" cy="29718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DAD5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1737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52B"/>
                </a:solidFill>
              </a:rPr>
              <a:t>Organize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90672" y="2249424"/>
            <a:ext cx="1444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46F"/>
                </a:solidFill>
              </a:rPr>
              <a:t>Client, project, visit, source context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90672" y="3913632"/>
            <a:ext cx="1463040" cy="64008"/>
          </a:xfrm>
          <a:prstGeom prst="rect">
            <a:avLst/>
          </a:prstGeom>
          <a:solidFill>
            <a:srgbClr val="5D7FA3"/>
          </a:solidFill>
          <a:ln w="12700">
            <a:solidFill>
              <a:srgbClr val="5D7FA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93792" y="1481328"/>
            <a:ext cx="1828800" cy="29718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DAD5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1737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52B"/>
                </a:solidFill>
              </a:rPr>
              <a:t>Generate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58384" y="2249424"/>
            <a:ext cx="1444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46F"/>
                </a:solidFill>
              </a:rPr>
              <a:t>Report, proposal, follow-up, task list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58384" y="3913632"/>
            <a:ext cx="1463040" cy="64008"/>
          </a:xfrm>
          <a:prstGeom prst="rect">
            <a:avLst/>
          </a:prstGeom>
          <a:solidFill>
            <a:srgbClr val="5D7FA3"/>
          </a:solidFill>
          <a:ln w="12700">
            <a:solidFill>
              <a:srgbClr val="5D7F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61504" y="1481328"/>
            <a:ext cx="1828800" cy="29718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DAD5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6096" y="1737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52B"/>
                </a:solidFill>
              </a:rPr>
              <a:t>Review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26096" y="2249424"/>
            <a:ext cx="1444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46F"/>
                </a:solidFill>
              </a:rPr>
              <a:t>Edit draft with evidence visible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26096" y="3913632"/>
            <a:ext cx="1463040" cy="64008"/>
          </a:xfrm>
          <a:prstGeom prst="rect">
            <a:avLst/>
          </a:prstGeom>
          <a:solidFill>
            <a:srgbClr val="5D7FA3"/>
          </a:solidFill>
          <a:ln w="12700">
            <a:solidFill>
              <a:srgbClr val="5D7F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29216" y="1481328"/>
            <a:ext cx="1828800" cy="29718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DAD5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93808" y="1737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52B"/>
                </a:solidFill>
              </a:rPr>
              <a:t>Deliver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93808" y="2249424"/>
            <a:ext cx="1444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46F"/>
                </a:solidFill>
              </a:rPr>
              <a:t>Portal/export and internal handoff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93808" y="3913632"/>
            <a:ext cx="1463040" cy="64008"/>
          </a:xfrm>
          <a:prstGeom prst="rect">
            <a:avLst/>
          </a:prstGeom>
          <a:solidFill>
            <a:srgbClr val="1DB56C"/>
          </a:solidFill>
          <a:ln w="12700">
            <a:solidFill>
              <a:srgbClr val="1DB5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4465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D88"/>
                </a:solidFill>
              </a:rPr>
              <a:t>Tracepad.ai / Seed Deck / 5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wedge: service businesses where deliverables are the product.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7FA3"/>
                </a:solidFill>
              </a:rPr>
              <a:t>Market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57607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20252B"/>
                </a:solidFill>
              </a:rPr>
              <a:t>5-50 person service businesses with repeatable but messy deliverables.</a:t>
            </a:r>
            <a:endParaRPr lang="en-US" sz="1400" dirty="0"/>
          </a:p>
          <a:p>
            <a:r>
              <a:rPr lang="en-US" sz="1400" dirty="0">
                <a:solidFill>
                  <a:srgbClr val="20252B"/>
                </a:solidFill>
              </a:rPr>
              <a:t>Environmental consultants, field inspection teams, remodelers, boutique implementation agencies, fractional operators.</a:t>
            </a:r>
            <a:endParaRPr lang="en-US" sz="1400" dirty="0"/>
          </a:p>
          <a:p>
            <a:r>
              <a:rPr lang="en-US" sz="1400" dirty="0">
                <a:solidFill>
                  <a:srgbClr val="20252B"/>
                </a:solidFill>
              </a:rPr>
              <a:t>Buyer is founder-led or operator-led and feels the follow-up bottleneck directly.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98080" y="1554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52B"/>
                </a:solidFill>
              </a:rPr>
              <a:t>5-50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080" y="19751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46F"/>
                </a:solidFill>
              </a:rPr>
              <a:t>person ICP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498080" y="2514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52B"/>
                </a:solidFill>
              </a:rPr>
              <a:t>4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0" y="2935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46F"/>
                </a:solidFill>
              </a:rPr>
              <a:t>core outputs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0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52B"/>
                </a:solidFill>
              </a:rPr>
              <a:t>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98080" y="38953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46F"/>
                </a:solidFill>
              </a:rPr>
              <a:t>reviewable workspace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D88"/>
                </a:solidFill>
              </a:rPr>
              <a:t>Tracepad.ai / Seed Deck / 6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model: subscriptions plus usage expansion.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7FA3"/>
                </a:solidFill>
              </a:rPr>
              <a:t>Business model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7FA3"/>
                </a:solidFill>
              </a:rPr>
              <a:t>Solo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52B"/>
                </a:solidFill>
              </a:rPr>
              <a:t>$69/mo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8163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746F"/>
                </a:solidFill>
              </a:rPr>
              <a:t>Independent consultant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2560320" cy="0"/>
          </a:xfrm>
          <a:prstGeom prst="line">
            <a:avLst/>
          </a:prstGeom>
          <a:noFill/>
          <a:ln w="25400">
            <a:solidFill>
              <a:srgbClr val="1DB5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7FA3"/>
                </a:solidFill>
              </a:rPr>
              <a:t>Team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52B"/>
                </a:solidFill>
              </a:rPr>
              <a:t>$249/mo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389120" y="28163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746F"/>
                </a:solidFill>
              </a:rPr>
              <a:t>Small service team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3429000"/>
            <a:ext cx="2560320" cy="0"/>
          </a:xfrm>
          <a:prstGeom prst="line">
            <a:avLst/>
          </a:prstGeom>
          <a:noFill/>
          <a:ln w="25400">
            <a:solidFill>
              <a:srgbClr val="1DB5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7FA3"/>
                </a:solidFill>
              </a:rPr>
              <a:t>Business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6384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52B"/>
                </a:solidFill>
              </a:rPr>
              <a:t>$599+/mo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863840" y="28163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746F"/>
                </a:solidFill>
              </a:rPr>
              <a:t>Higher-volume operator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0" y="3429000"/>
            <a:ext cx="2560320" cy="0"/>
          </a:xfrm>
          <a:prstGeom prst="line">
            <a:avLst/>
          </a:prstGeom>
          <a:noFill/>
          <a:ln w="25400">
            <a:solidFill>
              <a:srgbClr val="1DB5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6177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52B"/>
                </a:solidFill>
              </a:rPr>
              <a:t>Expansion comes from seats, AI-heavy generation, storage, onboarding, and higher-volume portal workflows.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D88"/>
                </a:solidFill>
              </a:rPr>
              <a:t>Tracepad.ai / Seed Deck / 7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Plausible prototype traction, not pretend scale.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7FA3"/>
                </a:solidFill>
              </a:rPr>
              <a:t>Traction model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52B"/>
                </a:solidFill>
              </a:rPr>
              <a:t>3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18379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46F"/>
                </a:solidFill>
              </a:rPr>
              <a:t>pilot accounts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971800" y="1417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52B"/>
                </a:solidFill>
              </a:rPr>
              <a:t>9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71800" y="18379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46F"/>
                </a:solidFill>
              </a:rPr>
              <a:t>paying teams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52B"/>
                </a:solidFill>
              </a:rPr>
              <a:t>42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029200" y="18379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46F"/>
                </a:solidFill>
              </a:rPr>
              <a:t>active seats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086600" y="1417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52B"/>
                </a:solidFill>
              </a:rPr>
              <a:t>$3.2k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086600" y="18379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46F"/>
                </a:solidFill>
              </a:rPr>
              <a:t>MRR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144000" y="1417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52B"/>
                </a:solidFill>
              </a:rPr>
              <a:t>$1.5M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0" y="18379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46F"/>
                </a:solidFill>
              </a:rPr>
              <a:t>seed ask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14400" y="306324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52B"/>
                </a:solidFill>
              </a:rPr>
              <a:t>The traction story is intentionally early: real pull from service teams, enough usage to learn, and a clear path to stronger onboarding and product hardening.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D88"/>
                </a:solidFill>
              </a:rPr>
              <a:t>Tracepad.ai / Seed Deck / 8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GTM: wedge into repeated high-context deliverables.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7FA3"/>
                </a:solidFill>
              </a:rPr>
              <a:t>Go-to-market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22960" y="1444752"/>
            <a:ext cx="658368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20252B"/>
                </a:solidFill>
              </a:rPr>
              <a:t>Start founder-led with boutique consultants, inspection teams, agencies, and remodelers.</a:t>
            </a:r>
            <a:endParaRPr lang="en-US" sz="1400" dirty="0"/>
          </a:p>
          <a:p>
            <a:r>
              <a:rPr lang="en-US" sz="1400" dirty="0">
                <a:solidFill>
                  <a:srgbClr val="20252B"/>
                </a:solidFill>
              </a:rPr>
              <a:t>Sell a narrow promise: ship the recap, proposal, or follow-up before context decays.</a:t>
            </a:r>
            <a:endParaRPr lang="en-US" sz="1400" dirty="0"/>
          </a:p>
          <a:p>
            <a:r>
              <a:rPr lang="en-US" sz="1400" dirty="0">
                <a:solidFill>
                  <a:srgbClr val="20252B"/>
                </a:solidFill>
              </a:rPr>
              <a:t>Convert pilots through guided onboarding and measurable reduction in deliverable cycle time.</a:t>
            </a:r>
            <a:endParaRPr lang="en-US" sz="1400" dirty="0"/>
          </a:p>
        </p:txBody>
      </p:sp>
      <p:pic>
        <p:nvPicPr>
          <p:cNvPr id="5" name="Image 0" descr="/Users/derrickchoi/Code/tracepad-app/brand/tracepad-social-launch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234440"/>
            <a:ext cx="27432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4465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D88"/>
                </a:solidFill>
              </a:rPr>
              <a:t>Tracepad.ai / Seed Deck / 9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Competition: notes, CRMs, docs, and vertical tools each miss the full loop.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7FA3"/>
                </a:solidFill>
              </a:rPr>
              <a:t>Competition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60120" y="1325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52B"/>
                </a:solidFill>
              </a:rPr>
              <a:t>Notes apps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132588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46F"/>
                </a:solidFill>
              </a:rPr>
              <a:t>Capture without deliverable workflow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1709928"/>
            <a:ext cx="8961120" cy="0"/>
          </a:xfrm>
          <a:prstGeom prst="line">
            <a:avLst/>
          </a:prstGeom>
          <a:noFill/>
          <a:ln w="8890">
            <a:solidFill>
              <a:srgbClr val="DA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11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52B"/>
                </a:solidFill>
              </a:rPr>
              <a:t>CRMs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201168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46F"/>
                </a:solidFill>
              </a:rPr>
              <a:t>Track accounts, not field evidence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2395728"/>
            <a:ext cx="8961120" cy="0"/>
          </a:xfrm>
          <a:prstGeom prst="line">
            <a:avLst/>
          </a:prstGeom>
          <a:noFill/>
          <a:ln w="8890">
            <a:solidFill>
              <a:srgbClr val="DAD5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697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52B"/>
                </a:solidFill>
              </a:rPr>
              <a:t>Docs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69748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46F"/>
                </a:solidFill>
              </a:rPr>
              <a:t>Flexible but manual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3081528"/>
            <a:ext cx="8961120" cy="0"/>
          </a:xfrm>
          <a:prstGeom prst="line">
            <a:avLst/>
          </a:prstGeom>
          <a:noFill/>
          <a:ln w="8890">
            <a:solidFill>
              <a:srgbClr val="DAD5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83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52B"/>
                </a:solidFill>
              </a:rPr>
              <a:t>Vertical 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338328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46F"/>
                </a:solidFill>
              </a:rPr>
              <a:t>Deep but narrow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3767328"/>
            <a:ext cx="8961120" cy="0"/>
          </a:xfrm>
          <a:prstGeom prst="line">
            <a:avLst/>
          </a:prstGeom>
          <a:noFill/>
          <a:ln w="8890">
            <a:solidFill>
              <a:srgbClr val="DAD5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0690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56C"/>
                </a:solidFill>
              </a:rPr>
              <a:t>Tracepad.ai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406908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46F"/>
                </a:solidFill>
              </a:rPr>
              <a:t>Evidence to reviewed deliverable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" y="4453128"/>
            <a:ext cx="8961120" cy="0"/>
          </a:xfrm>
          <a:prstGeom prst="line">
            <a:avLst/>
          </a:prstGeom>
          <a:noFill/>
          <a:ln w="8890">
            <a:solidFill>
              <a:srgbClr val="DAD5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4465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D88"/>
                </a:solidFill>
              </a:rPr>
              <a:t>Tracepad.ai / Seed Deck / 10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Financial summary: seed dollars buy product hardening and pilot conversion.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7FA3"/>
                </a:solidFill>
              </a:rPr>
              <a:t>Financial summary</a:t>
            </a:r>
            <a:endParaRPr lang="en-US" sz="8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417320"/>
          <a:ext cx="60350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60920" y="1508760"/>
            <a:ext cx="34747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20252B"/>
                </a:solidFill>
              </a:rPr>
              <a:t>Base case reaches about $1.6M ARR in 2028.</a:t>
            </a:r>
            <a:endParaRPr lang="en-US" sz="1400" dirty="0"/>
          </a:p>
          <a:p>
            <a:r>
              <a:rPr lang="en-US" sz="1400" dirty="0">
                <a:solidFill>
                  <a:srgbClr val="20252B"/>
                </a:solidFill>
              </a:rPr>
              <a:t>Gross margin improves as templates, onboarding, and AI cost controls mature.</a:t>
            </a:r>
            <a:endParaRPr lang="en-US" sz="1400" dirty="0"/>
          </a:p>
          <a:p>
            <a:r>
              <a:rPr lang="en-US" sz="1400" dirty="0">
                <a:solidFill>
                  <a:srgbClr val="20252B"/>
                </a:solidFill>
              </a:rPr>
              <a:t>Runway supports focused product and GTM validation, with a planned follow-on raise after stronger usage proof.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64465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D88"/>
                </a:solidFill>
              </a:rPr>
              <a:t>Tracepad.ai / Seed Deck / 11</a:t>
            </a:r>
            <a:endParaRPr lang="en-US" sz="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25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Ask: $1.5M seed to turn field context into the system of record for deliverables.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7FA3"/>
                </a:solidFill>
              </a:rPr>
              <a:t>Ask and use of funds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B56C"/>
                </a:solidFill>
              </a:rPr>
              <a:t>$1.5M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32688" y="2212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746F"/>
                </a:solidFill>
              </a:rPr>
              <a:t>seed target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69080" y="1417320"/>
            <a:ext cx="594360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20252B"/>
                </a:solidFill>
              </a:rPr>
              <a:t>Hire first engineer.</a:t>
            </a:r>
            <a:endParaRPr lang="en-US" sz="1400" dirty="0"/>
          </a:p>
          <a:p>
            <a:r>
              <a:rPr lang="en-US" sz="1400" dirty="0">
                <a:solidFill>
                  <a:srgbClr val="20252B"/>
                </a:solidFill>
              </a:rPr>
              <a:t>Add product and design support.</a:t>
            </a:r>
            <a:endParaRPr lang="en-US" sz="1400" dirty="0"/>
          </a:p>
          <a:p>
            <a:r>
              <a:rPr lang="en-US" sz="1400" dirty="0">
                <a:solidFill>
                  <a:srgbClr val="20252B"/>
                </a:solidFill>
              </a:rPr>
              <a:t>Improve onboarding and customer success.</a:t>
            </a:r>
            <a:endParaRPr lang="en-US" sz="1400" dirty="0"/>
          </a:p>
          <a:p>
            <a:r>
              <a:rPr lang="en-US" sz="1400" dirty="0">
                <a:solidFill>
                  <a:srgbClr val="20252B"/>
                </a:solidFill>
              </a:rPr>
              <a:t>Harden AI and document generation pipeline.</a:t>
            </a:r>
            <a:endParaRPr lang="en-US" sz="1400" dirty="0"/>
          </a:p>
          <a:p>
            <a:r>
              <a:rPr lang="en-US" sz="1400" dirty="0">
                <a:solidFill>
                  <a:srgbClr val="20252B"/>
                </a:solidFill>
              </a:rPr>
              <a:t>Run early GTM experiments.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983480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52B"/>
                </a:solidFill>
              </a:rPr>
              <a:t>Tracepad.ai wins by staying practical: capture the messy work, keep evidence attached, and help service teams ship the professional output clients actually pay for.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D88"/>
                </a:solidFill>
              </a:rPr>
              <a:t>Tracepad.ai / Seed Deck / 12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Tracepad.ai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Tracepad.ai Seed Deck</dc:title>
  <dc:subject>Seed pitch deck</dc:subject>
  <dc:creator>Tracepad.ai</dc:creator>
  <cp:lastModifiedBy>Tracepad.ai</cp:lastModifiedBy>
  <cp:revision>1</cp:revision>
  <dcterms:created xsi:type="dcterms:W3CDTF">2026-04-25T19:20:24Z</dcterms:created>
  <dcterms:modified xsi:type="dcterms:W3CDTF">2026-04-25T19:20:24Z</dcterms:modified>
</cp:coreProperties>
</file>